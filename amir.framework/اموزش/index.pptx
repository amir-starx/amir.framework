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7A7B7D-A4CE-432D-A76D-3B021D67B8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037702-A3AC-420F-BF93-1113EFC896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8547E3A-1CB3-4977-9A7B-7B04838747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9506B98-D2A7-4A5E-8936-9EEA5A1F44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6DDF96D-3CFB-4249-952A-87AB1289C7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54B757D-7300-48E7-9B92-A8BBAAB066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21A8183-10E9-4795-B77E-5E1E513250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FFB461D-DECE-4547-96C1-535F237EF8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CF65AC2-6B7C-4A94-A669-8098B5CD36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B7A3FDB-2061-4365-8ED3-394461C603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28FE5A9-C0B1-43C1-8D69-D9CDAEC1B3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9312F0-947B-4B90-884F-50253A1933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0FC849-DDFA-4F45-8439-5FC1B64D46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BE7439-381B-4A6D-BC1D-85DB563792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937760-5299-4842-877F-805AC49C93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69583B-3518-4340-9B23-C919497C11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60BE08-DC7A-41AD-BDFA-F526400B2F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B542DF-52E6-4CB5-923F-C93148D34E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06B0209-BCF2-4F5A-8063-7DBA775567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24FB91-FC3A-47D8-BB3C-82A5601C43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6690B6-2595-4666-AEA8-3479B9B2C7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51A32B-890D-4037-913F-7336414AE3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5111280" y="1097280"/>
            <a:ext cx="202896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000" spc="-1" strike="noStrike">
                <a:solidFill>
                  <a:srgbClr val="ff7a00"/>
                </a:solidFill>
                <a:latin typeface="DejaVu Sans"/>
              </a:rPr>
              <a:t>AMIR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4016520" y="1783080"/>
            <a:ext cx="421884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300" spc="-1" strike="noStrike">
                <a:solidFill>
                  <a:srgbClr val="f5f5f5"/>
                </a:solidFill>
                <a:latin typeface="DejaVu Sans"/>
              </a:rPr>
              <a:t>FRAMEWORK</a:t>
            </a:r>
            <a:endParaRPr b="0" lang="en-US" sz="4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3967920" y="2743200"/>
            <a:ext cx="4323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hi-IN" sz="2200" spc="-1" strike="noStrike">
                <a:solidFill>
                  <a:srgbClr val="a5a5af"/>
                </a:solidFill>
                <a:latin typeface="DejaVu Sans"/>
              </a:rPr>
              <a:t>ساده ترین فریم ورک پی اچ پی ایران و جهان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4580280" y="3657600"/>
            <a:ext cx="3091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hi-IN" sz="1700" spc="-1" strike="noStrike">
                <a:solidFill>
                  <a:srgbClr val="f5f5f5"/>
                </a:solidFill>
                <a:latin typeface="DejaVu Sans"/>
              </a:rPr>
              <a:t>معرفی • معماری • آموزش • پروژه عملی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5806080" y="5029200"/>
            <a:ext cx="639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7a00"/>
                </a:solidFill>
                <a:latin typeface="DejaVu Sans"/>
              </a:rPr>
              <a:t>v1.0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4567320" y="411480"/>
            <a:ext cx="311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فریم ورک چیست؟؟؟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3675960" y="1024200"/>
            <a:ext cx="4902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یک هسته مرکزی که همه قطعات پروژه شما را به هم وصل و مدیریت میکند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"/>
          <p:cNvSpPr/>
          <p:nvPr/>
        </p:nvSpPr>
        <p:spPr>
          <a:xfrm>
            <a:off x="2201040" y="2057400"/>
            <a:ext cx="77904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این پروژه به جای کلی فایل از یک فایل به جای هسته استفاده میکند که باعث راحت بودن کار و قابل فهم بودن میشود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این پروژه برای ساخت پروژه های کوچک و درک منتق فریم ورک های بزرگ است و برای پروژه های بزرگ توصیه نمیشود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886200" y="5257800"/>
            <a:ext cx="913680" cy="9136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858000" y="3886200"/>
            <a:ext cx="3199680" cy="29710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rrow-Sketch-3"/>
          <p:cNvSpPr/>
          <p:nvPr/>
        </p:nvSpPr>
        <p:spPr>
          <a:xfrm>
            <a:off x="4829400" y="4572000"/>
            <a:ext cx="1799280" cy="539280"/>
          </a:xfrm>
          <a:custGeom>
            <a:avLst/>
            <a:gdLst>
              <a:gd name="textAreaLeft" fmla="*/ 0 w 1799280"/>
              <a:gd name="textAreaRight" fmla="*/ 1800000 w 1799280"/>
              <a:gd name="textAreaTop" fmla="*/ 0 h 539280"/>
              <a:gd name="textAreaBottom" fmla="*/ 540000 h 539280"/>
            </a:gdLst>
            <a:ahLst/>
            <a:rect l="textAreaLeft" t="textAreaTop" r="textAreaRight" b="textAreaBottom"/>
            <a:pathLst>
              <a:path w="5000" h="1500">
                <a:moveTo>
                  <a:pt x="4985" y="1153"/>
                </a:moveTo>
                <a:cubicBezTo>
                  <a:pt x="4846" y="868"/>
                  <a:pt x="4751" y="546"/>
                  <a:pt x="4696" y="217"/>
                </a:cubicBezTo>
                <a:cubicBezTo>
                  <a:pt x="4679" y="116"/>
                  <a:pt x="4585" y="39"/>
                  <a:pt x="4512" y="10"/>
                </a:cubicBezTo>
                <a:cubicBezTo>
                  <a:pt x="4457" y="-11"/>
                  <a:pt x="4374" y="-5"/>
                  <a:pt x="4391" y="96"/>
                </a:cubicBezTo>
                <a:cubicBezTo>
                  <a:pt x="4429" y="324"/>
                  <a:pt x="4491" y="553"/>
                  <a:pt x="4563" y="767"/>
                </a:cubicBezTo>
                <a:cubicBezTo>
                  <a:pt x="4546" y="753"/>
                  <a:pt x="4535" y="739"/>
                  <a:pt x="4518" y="732"/>
                </a:cubicBezTo>
                <a:cubicBezTo>
                  <a:pt x="4257" y="561"/>
                  <a:pt x="3968" y="460"/>
                  <a:pt x="3685" y="374"/>
                </a:cubicBezTo>
                <a:cubicBezTo>
                  <a:pt x="3263" y="239"/>
                  <a:pt x="2840" y="145"/>
                  <a:pt x="2407" y="88"/>
                </a:cubicBezTo>
                <a:cubicBezTo>
                  <a:pt x="1968" y="24"/>
                  <a:pt x="1512" y="10"/>
                  <a:pt x="1068" y="81"/>
                </a:cubicBezTo>
                <a:cubicBezTo>
                  <a:pt x="712" y="138"/>
                  <a:pt x="329" y="260"/>
                  <a:pt x="40" y="561"/>
                </a:cubicBezTo>
                <a:cubicBezTo>
                  <a:pt x="34" y="561"/>
                  <a:pt x="29" y="567"/>
                  <a:pt x="24" y="574"/>
                </a:cubicBezTo>
                <a:cubicBezTo>
                  <a:pt x="-82" y="689"/>
                  <a:pt x="196" y="967"/>
                  <a:pt x="284" y="868"/>
                </a:cubicBezTo>
                <a:cubicBezTo>
                  <a:pt x="551" y="574"/>
                  <a:pt x="907" y="460"/>
                  <a:pt x="1251" y="403"/>
                </a:cubicBezTo>
                <a:cubicBezTo>
                  <a:pt x="1668" y="324"/>
                  <a:pt x="2096" y="346"/>
                  <a:pt x="2518" y="395"/>
                </a:cubicBezTo>
                <a:cubicBezTo>
                  <a:pt x="2924" y="445"/>
                  <a:pt x="3330" y="539"/>
                  <a:pt x="3724" y="660"/>
                </a:cubicBezTo>
                <a:cubicBezTo>
                  <a:pt x="3885" y="710"/>
                  <a:pt x="4040" y="767"/>
                  <a:pt x="4196" y="831"/>
                </a:cubicBezTo>
                <a:cubicBezTo>
                  <a:pt x="4335" y="888"/>
                  <a:pt x="4396" y="910"/>
                  <a:pt x="4502" y="982"/>
                </a:cubicBezTo>
                <a:cubicBezTo>
                  <a:pt x="4518" y="989"/>
                  <a:pt x="4546" y="1003"/>
                  <a:pt x="4573" y="1011"/>
                </a:cubicBezTo>
                <a:cubicBezTo>
                  <a:pt x="4396" y="1061"/>
                  <a:pt x="4218" y="1125"/>
                  <a:pt x="4046" y="1196"/>
                </a:cubicBezTo>
                <a:cubicBezTo>
                  <a:pt x="3974" y="1224"/>
                  <a:pt x="4062" y="1375"/>
                  <a:pt x="4090" y="1403"/>
                </a:cubicBezTo>
                <a:cubicBezTo>
                  <a:pt x="4146" y="1467"/>
                  <a:pt x="4229" y="1525"/>
                  <a:pt x="4307" y="1489"/>
                </a:cubicBezTo>
                <a:cubicBezTo>
                  <a:pt x="4512" y="1403"/>
                  <a:pt x="4730" y="1338"/>
                  <a:pt x="4946" y="1289"/>
                </a:cubicBezTo>
                <a:cubicBezTo>
                  <a:pt x="5002" y="1274"/>
                  <a:pt x="5013" y="1210"/>
                  <a:pt x="4985" y="1153"/>
                </a:cubicBezTo>
                <a:close/>
              </a:path>
            </a:pathLst>
          </a:custGeom>
          <a:solidFill>
            <a:srgbClr val="81d41a"/>
          </a:solidFill>
          <a:ln w="64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680" rIns="94680" tIns="48960" bIns="48960" anchor="t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077360" y="411480"/>
            <a:ext cx="3808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قلب تک صفحه ای هوشمند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4635720" y="1024200"/>
            <a:ext cx="2980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همه درخواست‌ها از یک نقطه کنترل می‌شوند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ounded Rectangle 4"/>
          <p:cNvSpPr/>
          <p:nvPr/>
        </p:nvSpPr>
        <p:spPr>
          <a:xfrm>
            <a:off x="685800" y="1600200"/>
            <a:ext cx="10834560" cy="429660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5038200" y="1828800"/>
            <a:ext cx="2129400" cy="35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Browser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index.php  ← Core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تشخیص صفحه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php/page.php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+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html/page.html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Render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نمایش نهایی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Browser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098320" y="411480"/>
            <a:ext cx="2055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5f5"/>
                </a:solidFill>
                <a:latin typeface="DejaVu Sans"/>
              </a:rPr>
              <a:t>Syntax 1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5052240" y="1024200"/>
            <a:ext cx="2148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متغیر پی اچ پی در اچ تی ام ال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ounded Rectangle 4"/>
          <p:cNvSpPr/>
          <p:nvPr/>
        </p:nvSpPr>
        <p:spPr>
          <a:xfrm>
            <a:off x="685800" y="1554480"/>
            <a:ext cx="10834560" cy="438804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522320" y="1783080"/>
            <a:ext cx="316116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// /php/index.php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$title = 'Amir Framework';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$name = 'Amir';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$message = 'Hello World';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// /html/index.html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&lt;title&gt;{=title=}&lt;/title&gt;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&lt;h1&gt;{=message=}&lt;/h1&gt;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&lt;p&gt;User: {=name=}&lt;/p&gt;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با استفاده از {=اسم متغیر=}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098320" y="411480"/>
            <a:ext cx="2055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5f5"/>
                </a:solidFill>
                <a:latin typeface="DejaVu Sans"/>
              </a:rPr>
              <a:t>Syntax 2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4891320" y="1024200"/>
            <a:ext cx="2470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لود کردن قطعات قابل استفاده مجدد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685800" y="1508760"/>
            <a:ext cx="10834560" cy="457092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4924080" y="1917360"/>
            <a:ext cx="235800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// /html/index.html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{+header+}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&lt;main&gt;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محتوای صفحه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&lt;/main&gt;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{+footer+}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بای استفاده از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{=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اسم صفحه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=}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میتوانید دو صفحه را ترکیب کنید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5098320" y="411480"/>
            <a:ext cx="2055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5f5"/>
                </a:solidFill>
                <a:latin typeface="DejaVu Sans"/>
              </a:rPr>
              <a:t>Syntax 3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4912200" y="1024200"/>
            <a:ext cx="2428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فایل هسته همه کار ها رو انجام میده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685800" y="1600200"/>
            <a:ext cx="10834560" cy="429660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4751640" y="1936800"/>
            <a:ext cx="2702520" cy="35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&lt;a href="{++login++}"&gt;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ورود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&lt;/a&gt;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index.php?page=login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/php/login.php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+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/html/login.html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کاربر همیشه با هسته کار می‌کند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4595040" y="411480"/>
            <a:ext cx="3062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نوشتن فرم ها با دکمه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5092560" y="1024200"/>
            <a:ext cx="2067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گروه بندی فرم ها با پی کلاس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ounded Rectangle 4"/>
          <p:cNvSpPr/>
          <p:nvPr/>
        </p:nvSpPr>
        <p:spPr>
          <a:xfrm>
            <a:off x="685800" y="1417320"/>
            <a:ext cx="10834560" cy="466236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2401560" y="2401920"/>
            <a:ext cx="74246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گروه بندی و متغیر بندی به صورت زیر است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&lt;input type="text" name="username" pclass="register"&gt;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&lt;input type="password" name="password" pclass="register"&gt;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&lt;button pclass="register"&gt;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ثبت نام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&lt;/button&gt;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با زدن بر روی دکمه ای که پی کلاس ریجستر دارد همه فیلد هایی که ریجستر دارن در متغیر های خود ذخیره میشوند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اسم متغیر ها در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Name=””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نوشته شده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118400" y="411480"/>
            <a:ext cx="4015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دریافت اطلاعات از دیتابیس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4572000" y="1024200"/>
            <a:ext cx="3111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پی اچ پی اطلاعات دیتابیس  را دریافت می‌کند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ounded Rectangle 4"/>
          <p:cNvSpPr/>
          <p:nvPr/>
        </p:nvSpPr>
        <p:spPr>
          <a:xfrm>
            <a:off x="685800" y="1645920"/>
            <a:ext cx="10834560" cy="415944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3808440" y="2234520"/>
            <a:ext cx="458856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برای استفاده از دیتابیس میتوانید از روش های خیلی ساده استفاده کنید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خواندن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$name = database.users.20.name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یعنی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اول مشخص میشه که میخواهی از دیتا بیس استفاده کنی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بعد تیبل مورد نظر را ینویسی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بعد اون ایدی مورد نظر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و در اخر مینویسی که چی رو میخوای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البته که این قابلیت به پی اچ پی هیچ ربطی نداره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اما کار شما را راحت تر میکند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2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4202280" y="411480"/>
            <a:ext cx="3847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ارسال اطلاعات به دیتابیس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13"/>
          <p:cNvSpPr/>
          <p:nvPr/>
        </p:nvSpPr>
        <p:spPr>
          <a:xfrm>
            <a:off x="4566240" y="1024200"/>
            <a:ext cx="3124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پی اچ پی اطلاعات را به دیتابیس ارسال می‌کند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ounded Rectangle 2"/>
          <p:cNvSpPr/>
          <p:nvPr/>
        </p:nvSpPr>
        <p:spPr>
          <a:xfrm>
            <a:off x="685800" y="1645920"/>
            <a:ext cx="10834560" cy="415944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3808440" y="2234520"/>
            <a:ext cx="458856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برای استفاده از دیتابیس میتوانید از روش های خیلی ساده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استفاده کنید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دقیقا مثل دریافت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database.users.20.name = $name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یعنی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اول مشخص میشه که میخواهی از دیتا بیس استفاده کنی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بعد تیبل مورد نظر را ینویسی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بعد اون ایدی مورد نظر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و در اخر مینویسی که چی رو میخوای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البته که این قابلیت به پی اچ پی هیچ ربطی نداره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اما کار شما را راحت تر میکند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022360" y="411480"/>
            <a:ext cx="2207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5f5"/>
                </a:solidFill>
                <a:latin typeface="DejaVu Sans"/>
              </a:rPr>
              <a:t>Database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5184360" y="1024200"/>
            <a:ext cx="18828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تنظیمات ساده در یک فایل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ounded Rectangle 4"/>
          <p:cNvSpPr/>
          <p:nvPr/>
        </p:nvSpPr>
        <p:spPr>
          <a:xfrm>
            <a:off x="685800" y="1508760"/>
            <a:ext cx="10834560" cy="457092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3300120" y="2997360"/>
            <a:ext cx="554580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فقت نیاز دارید که اسم و یوزر دیتا بیس به الاوه رمز دیتا بیس رو داخل فایل وارد کنید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/php/config/config.php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البته نوجه کنید که باید از دیتابیس نوع مای اس کیو ال استفاده کنید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352400" y="411480"/>
            <a:ext cx="3546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5f5"/>
                </a:solidFill>
                <a:latin typeface="DejaVu Sans"/>
              </a:rPr>
              <a:t>CSS </a:t>
            </a: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و</a:t>
            </a:r>
            <a:r>
              <a:rPr b="1" lang="en-US" sz="3000" spc="-1" strike="noStrike">
                <a:solidFill>
                  <a:srgbClr val="f5f5f5"/>
                </a:solidFill>
                <a:latin typeface="DejaVu Sans"/>
              </a:rPr>
              <a:t> </a:t>
            </a:r>
            <a:r>
              <a:rPr b="1" lang="en-US" sz="3000" spc="-1" strike="noStrike">
                <a:solidFill>
                  <a:srgbClr val="f5f5f5"/>
                </a:solidFill>
                <a:latin typeface="DejaVu Sans"/>
              </a:rPr>
              <a:t>JavaScript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3987720" y="1024200"/>
            <a:ext cx="4277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منابع را مرورگر به صورت جدا دریافت میکند تا سرعت حفظ شود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685800" y="1645920"/>
            <a:ext cx="10834560" cy="420516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3489840" y="2270520"/>
            <a:ext cx="5226480" cy="26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&lt;!-- HTML --&gt;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&lt;link rel="stylesheet" href="css/index.css"&gt;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&lt;script src="js/index.js"&gt;&lt;/script&gt;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/css  →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ظاهر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/js   →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رفتار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نیازی نیست هسته استایل ها و رفتار را تحلیل و پردازش کند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798080" y="411480"/>
            <a:ext cx="2655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یک صفحه از صفر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398560" y="1024200"/>
            <a:ext cx="1455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الگوی ساخت صفحه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685800" y="1600200"/>
            <a:ext cx="10834560" cy="429660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4808520" y="1828800"/>
            <a:ext cx="258840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1. /php/profile.php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منطق صفحه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2. /html/profile.html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ساختار صفحه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3. {=name=}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نمایش داده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4. {+header+}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Load component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5. {++profile++}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رفتن به صفحه دیگر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4230360" y="411480"/>
            <a:ext cx="3790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جریان کامل یک درخواست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5427000" y="1024200"/>
            <a:ext cx="13978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از کلیک تا خروجی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ounded Rectangle 4"/>
          <p:cNvSpPr/>
          <p:nvPr/>
        </p:nvSpPr>
        <p:spPr>
          <a:xfrm>
            <a:off x="685800" y="1554480"/>
            <a:ext cx="10834560" cy="4388040"/>
          </a:xfrm>
          <a:prstGeom prst="roundRect">
            <a:avLst>
              <a:gd name="adj" fmla="val 16667"/>
            </a:avLst>
          </a:prstGeom>
          <a:solidFill>
            <a:srgbClr val="121219"/>
          </a:solidFill>
          <a:ln>
            <a:solidFill>
              <a:srgbClr val="2a2a3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4523040" y="1783080"/>
            <a:ext cx="3160080" cy="35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&lt;a href="{++register++}"&gt;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index.php?page=register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php/register.php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دریافت / پردازش داده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html/register.html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{=message=}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</a:t>
            </a: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Render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      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1e1e6"/>
                </a:solidFill>
                <a:latin typeface="DejaVu Sans Mono"/>
              </a:rPr>
              <a:t>    </a:t>
            </a:r>
            <a:r>
              <a:rPr b="0" lang="hi-IN" sz="1500" spc="-1" strike="noStrike">
                <a:solidFill>
                  <a:srgbClr val="e1e1e6"/>
                </a:solidFill>
                <a:latin typeface="DejaVu Sans Mono"/>
              </a:rPr>
              <a:t>صفحه نهایی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601160" y="411480"/>
            <a:ext cx="305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hi-IN" sz="3000" spc="-1" strike="noStrike">
                <a:solidFill>
                  <a:srgbClr val="f5f5f5"/>
                </a:solidFill>
                <a:latin typeface="DejaVu Sans"/>
              </a:rPr>
              <a:t>فلسفه امیر فریم ورک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4906440" y="1024200"/>
            <a:ext cx="2444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500" spc="-1" strike="noStrike">
                <a:solidFill>
                  <a:srgbClr val="a5a5af"/>
                </a:solidFill>
                <a:latin typeface="DejaVu Sans"/>
              </a:rPr>
              <a:t>کم ترین پیچیدگی برای بیشترین کار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1668600" y="1672200"/>
            <a:ext cx="1233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7a00"/>
                </a:solidFill>
                <a:latin typeface="DejaVu Sans"/>
              </a:rPr>
              <a:t>SIMPLE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6177960" y="1600200"/>
            <a:ext cx="20923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900" spc="-1" strike="noStrike">
                <a:solidFill>
                  <a:srgbClr val="f5f5f5"/>
                </a:solidFill>
                <a:latin typeface="DejaVu Sans"/>
              </a:rPr>
              <a:t>شروع سریع و نوشتن کم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1345680" y="2723760"/>
            <a:ext cx="187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7a00"/>
                </a:solidFill>
                <a:latin typeface="DejaVu Sans"/>
              </a:rPr>
              <a:t>CORE-FIRST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5414400" y="2651760"/>
            <a:ext cx="3616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900" spc="-1" strike="noStrike">
                <a:solidFill>
                  <a:srgbClr val="f5f5f5"/>
                </a:solidFill>
                <a:latin typeface="DejaVu Sans"/>
              </a:rPr>
              <a:t>همه‌چیز از یک هسته قابل فهم عبور می‌کند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1474200" y="3739320"/>
            <a:ext cx="1622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7a00"/>
                </a:solidFill>
                <a:latin typeface="DejaVu Sans"/>
              </a:rPr>
              <a:t>MODULAR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9"/>
          <p:cNvSpPr/>
          <p:nvPr/>
        </p:nvSpPr>
        <p:spPr>
          <a:xfrm>
            <a:off x="4856400" y="3703320"/>
            <a:ext cx="47379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900" spc="-1" strike="noStrike">
                <a:solidFill>
                  <a:srgbClr val="f5f5f5"/>
                </a:solidFill>
                <a:latin typeface="DejaVu Sans"/>
              </a:rPr>
              <a:t>اچ تی ام ال و پی اچ پی به قطعات مستقل تقسیم می‌شوند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1326600" y="4790880"/>
            <a:ext cx="1917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7a00"/>
                </a:solidFill>
                <a:latin typeface="DejaVu Sans"/>
              </a:rPr>
              <a:t>EXTENSIBLE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11"/>
          <p:cNvSpPr/>
          <p:nvPr/>
        </p:nvSpPr>
        <p:spPr>
          <a:xfrm>
            <a:off x="4914000" y="4754880"/>
            <a:ext cx="46180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hi-IN" sz="1900" spc="-1" strike="noStrike">
                <a:solidFill>
                  <a:srgbClr val="f5f5f5"/>
                </a:solidFill>
                <a:latin typeface="DejaVu Sans"/>
              </a:rPr>
              <a:t>قابلیت‌های جدید بدون تغییر فلسفه اصلی اضافه می‌شوند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90360" cy="6856920"/>
          </a:xfrm>
          <a:prstGeom prst="rect">
            <a:avLst/>
          </a:prstGeom>
          <a:solidFill>
            <a:srgbClr val="ff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3126960" y="1234440"/>
            <a:ext cx="5997600" cy="7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300" spc="-1" strike="noStrike">
                <a:solidFill>
                  <a:srgbClr val="ff7a00"/>
                </a:solidFill>
                <a:latin typeface="DejaVu Sans"/>
              </a:rPr>
              <a:t>AMIR FRAMEWORK</a:t>
            </a:r>
            <a:endParaRPr b="0" lang="en-US" sz="4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3312360" y="2103120"/>
            <a:ext cx="56325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hi-IN" sz="2900" spc="-1" strike="noStrike">
                <a:solidFill>
                  <a:srgbClr val="f5f5f5"/>
                </a:solidFill>
                <a:latin typeface="DejaVu Sans"/>
              </a:rPr>
              <a:t>اصول اصلی برای ساخت پروژه کافی است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4152240" y="2971800"/>
            <a:ext cx="3953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hi-IN" sz="2000" spc="-1" strike="noStrike">
                <a:solidFill>
                  <a:srgbClr val="a5a5af"/>
                </a:solidFill>
                <a:latin typeface="DejaVu Sans"/>
              </a:rPr>
              <a:t>ساده ترین فریم ورک پی اچ پی ایران و جهان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5186160" y="5141160"/>
            <a:ext cx="188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5f5f5"/>
                </a:solidFill>
                <a:latin typeface="DejaVu Sans"/>
              </a:rPr>
              <a:t>PHP • all versions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5f5f5"/>
                </a:solidFill>
                <a:latin typeface="DejaVu Sans"/>
                <a:ea typeface="Noto Sans CJK SC"/>
              </a:rPr>
              <a:t>Framework • v1.0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2026-09-02T17:26:50Z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